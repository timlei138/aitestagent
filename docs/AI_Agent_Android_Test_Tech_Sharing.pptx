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AI Agent 驱动 Android 自动化测试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09EFF"/>
                </a:solidFill>
                <a:latin typeface="Microsoft YaHei"/>
              </a:defRPr>
            </a:pPr>
            <a:r>
              <a:t>基于 LangChain + LangGraph 的技术实践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Microsoft YaHei"/>
              </a:defRPr>
            </a:pPr>
            <a:r>
              <a:t>技术分享会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2026-06-17  |  AI 自动化测试平台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项目概览：传统测试 vs AI Agent 测试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291840" cy="292608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F56C6C"/>
                </a:solidFill>
                <a:latin typeface="Microsoft YaHei"/>
              </a:defRPr>
            </a:pPr>
            <a:r>
              <a:t>❌ 传统方式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✍️ 手工编写测试脚本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🔧 每个 UI 变化都要改代码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📍 XPath/ID 定位脆弱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⏰ 维护成本高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📝 学习成本高 (Appium/UiAutomator)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22860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09E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280160"/>
            <a:ext cx="3291840" cy="292608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67C23A"/>
                </a:solidFill>
                <a:latin typeface="Microsoft YaHei"/>
              </a:defRPr>
            </a:pPr>
            <a:r>
              <a:t>✅ AI Agent 方式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🗣️ 自然语言描述测试目标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🤖 LLM 理解页面 + 自主决策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🎯 语义匹配元素 (label/role)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🔄 UI 变化自适应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📊 自动报告 + 知识积累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280160"/>
            <a:ext cx="2743200" cy="475488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409EFF"/>
                </a:solidFill>
                <a:latin typeface="Microsoft YaHei"/>
              </a:defRPr>
            </a:pPr>
            <a:r>
              <a:t>🚀 核心能力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📥 自然语言输入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🧠 LLM 自动规划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🔧 Agent 自主执行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✅ 自动验证结果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👤 人机协作确认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💾 RAG 知识复用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📱 实时投屏监控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972800" cy="1645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技术栈  |  LLM: DeepSeek V4 Pro + 智谱 GLM-4.6V  |  编排: LangGraph + LangChain  |  设备: uiautomator2  |  数据: ChromaDB + SQLite  |  API: FastAPI + WebSocket  |  前端: Vue 3 + Element Plus  |  Embedding: BGE-large-zh-v1.5 (本地)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LangGraph 状态图 — 多节点编排引擎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286000" cy="1371600"/>
          </a:xfrm>
          <a:prstGeom prst="round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Planner</a:t>
            </a:r>
          </a:p>
          <a:p>
            <a:pPr algn="ctr"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LLM 生成</a:t>
            </a:r>
            <a:br/>
            <a:r>
              <a:t>测试目标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39" y="17373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09E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286000" cy="1371600"/>
          </a:xfrm>
          <a:prstGeom prst="round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PlanReview</a:t>
            </a:r>
          </a:p>
          <a:p>
            <a:pPr algn="ctr"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interrupt()</a:t>
            </a:r>
            <a:br/>
            <a:r>
              <a:t>人机确认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7373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09E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286000" cy="1371600"/>
          </a:xfrm>
          <a:prstGeom prst="round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Agent</a:t>
            </a:r>
          </a:p>
          <a:p>
            <a:pPr algn="ctr"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Tool-calling</a:t>
            </a:r>
            <a:br/>
            <a:r>
              <a:t>自主执行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7373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09E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371600"/>
            <a:ext cx="2286000" cy="1371600"/>
          </a:xfrm>
          <a:prstGeom prst="roundRect">
            <a:avLst/>
          </a:prstGeom>
          <a:solidFill>
            <a:srgbClr val="909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Reporter</a:t>
            </a:r>
          </a:p>
          <a:p>
            <a:pPr algn="ctr"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结果统计</a:t>
            </a:r>
            <a:br/>
            <a:r>
              <a:t>持久化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26080"/>
            <a:ext cx="2286000" cy="548640"/>
          </a:xfrm>
          <a:prstGeom prst="round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2971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09EFF"/>
                </a:solidFill>
                <a:latin typeface="Microsoft YaHei"/>
              </a:defRPr>
            </a:pPr>
            <a:r>
              <a:t>↻ 最多 12 轮迭代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74720"/>
            <a:ext cx="228600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20439"/>
            <a:ext cx="21031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LangGraph 概念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3474720"/>
            <a:ext cx="594360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3520439"/>
            <a:ext cx="57607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本项目应用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3474720"/>
            <a:ext cx="256032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3520439"/>
            <a:ext cx="23774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文件位置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858768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904487"/>
            <a:ext cx="21031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StateGraph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3858768"/>
            <a:ext cx="5943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3904487"/>
            <a:ext cx="57607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Planner→PlanReview→Agent→Reporter 状态机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3858768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3904487"/>
            <a:ext cx="23774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graph.py:340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242816"/>
            <a:ext cx="2286000" cy="38404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288536"/>
            <a:ext cx="21031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interrupt()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4242816"/>
            <a:ext cx="5943600" cy="38404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4288536"/>
            <a:ext cx="57607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PlanReview 节点暂停等待用户确认计划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4242816"/>
            <a:ext cx="2560320" cy="38404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4288536"/>
            <a:ext cx="23774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graph.py:294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626864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672583"/>
            <a:ext cx="21031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Command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0" y="4626864"/>
            <a:ext cx="5943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0" y="4672583"/>
            <a:ext cx="57607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节点返回值，支持 update + goto 路由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4626864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4672583"/>
            <a:ext cx="23774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graph.py:287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010912"/>
            <a:ext cx="2286000" cy="38404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056631"/>
            <a:ext cx="21031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MemorySaver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5010912"/>
            <a:ext cx="5943600" cy="38404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0" y="5056631"/>
            <a:ext cx="57607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Checkpointer: 保存状态，支持 resume 恢复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5010912"/>
            <a:ext cx="2560320" cy="38404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5056631"/>
            <a:ext cx="23774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graph.py:351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394960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440680"/>
            <a:ext cx="21031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ToolNode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08960" y="5394960"/>
            <a:ext cx="5943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0" y="5440680"/>
            <a:ext cx="57607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Agent 子图中执行工具调用的节点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0" y="5394960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35440" y="5440680"/>
            <a:ext cx="23774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graph.py:96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5779008"/>
            <a:ext cx="2286000" cy="38404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5824728"/>
            <a:ext cx="21031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tools_condition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08960" y="5779008"/>
            <a:ext cx="5943600" cy="38404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0" y="5824728"/>
            <a:ext cx="57607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判断 LLM 输出是 ToolCall 还是 Text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0" y="5779008"/>
            <a:ext cx="2560320" cy="38404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35440" y="5824728"/>
            <a:ext cx="23774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graph.py:92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6163056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6208776"/>
            <a:ext cx="21031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Subgraph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08960" y="6163056"/>
            <a:ext cx="5943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0" y="6208776"/>
            <a:ext cx="57607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Agent 内部独立 StateGraph (llm↔tools 循环)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00" y="6163056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35440" y="6208776"/>
            <a:ext cx="23774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graph.py:95-99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LangChain 工具链 &amp; 执行流程演示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029200" cy="1234439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409EFF"/>
                </a:solidFill>
                <a:latin typeface="Microsoft YaHei"/>
              </a:defRPr>
            </a:pPr>
            <a:r>
              <a:t>🔍 感知类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get_screen_info — UI树解析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query_app_knowledge — RAG检索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query_element_identity — 元素身份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88920"/>
            <a:ext cx="5029200" cy="155448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409EFF"/>
                </a:solidFill>
                <a:latin typeface="Microsoft YaHei"/>
              </a:defRPr>
            </a:pPr>
            <a:r>
              <a:t>🖱️ 操作类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click — 语义点击 (核心)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scroll_find_and_click — 滚动查找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launch_app / type_input / press_key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navigate_to / swipe / scroll_panel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709160"/>
            <a:ext cx="5029200" cy="155448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600" b="1">
                <a:solidFill>
                  <a:srgbClr val="409EFF"/>
                </a:solidFill>
                <a:latin typeface="Microsoft YaHei"/>
              </a:defRPr>
            </a:pPr>
            <a:r>
              <a:t>✅ 验证类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assert_page_contains / assert_element_exists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check_page_health / detect_popup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recover_from_anomaly — 异常恢复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wait_seconds — 等待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188720"/>
            <a:ext cx="5760720" cy="5029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🎬 执行流程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303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1️⃣ 用户输入  打开Settings, 通用设置→日期和时间→时区→英国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97480"/>
            <a:ext cx="5303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2️⃣ Planner (LLM)  生成目标: 验证时区设置为英国</a:t>
            </a:r>
          </a:p>
          <a:p>
            <a:pPr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      verification: [时区显示为英国]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74720"/>
            <a:ext cx="5303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3️⃣ PlanReview  interrupt() 暂停 → 前端弹窗 → 用户确认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51960"/>
            <a:ext cx="5303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4️⃣ Agent 执行  perceive → click(通用设置)</a:t>
            </a:r>
          </a:p>
          <a:p>
            <a:pPr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      → click(日期和时间) → click(时区)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029200"/>
            <a:ext cx="5303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5️⃣ 验证 DONE  get_screen_info → 时间从 18:28→11:29 ✅</a:t>
            </a:r>
          </a:p>
          <a:p>
            <a:pPr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      DONE: 英国时区设置成功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5806440"/>
            <a:ext cx="5303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6️⃣ 报告  Reporter → SQLite</a:t>
            </a:r>
          </a:p>
          <a:p>
            <a:pPr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      前端: 3步骤 / 100%通过率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